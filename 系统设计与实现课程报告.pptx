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63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2.svg" ContentType="image/svg+xml"/>
  <Override PartName="/ppt/media/image74.svg" ContentType="image/svg+xml"/>
  <Override PartName="/ppt/media/image78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4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[团队名称]。今天我们将向大家汇报我们的课程项目——[项目名称]的系统设计与实现过程。本次报告将涵盖项目背景、需求分析、系统设计、技术实现、项目管理等多个方面，希望能为大家展示一个完整的软件开发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八个部分。首先，我们会介绍项目的背景和目标。接着，深入探讨需求分析与规划。第三部分将详细阐述系统的整体设计，包括架构和UML模型。第四部分是技术方案的具体实现。第五部分展示我们的项目管理与协作方式。第六部分进行系统演示。第七部分介绍安全设计。最后，对整个项目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的背景。我们发现，许多企业在数字化过程中面临着效率低下和信息孤岛的困境。现有的解决方案往往不够灵活，成本也高。基于此，我们的项目目标是开发一个功能全面、技术先进且能切实提升业务效率的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我们的系统主要包含三大核心功能模块，旨在全方位提升企业管理效率与安全性。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首先是左侧的“用户管理”模块，它是系统的安全基石，不仅涵盖了从注册到注销的全周期管理，更通过精细化的多角色权限控制，确保了敏感数据只能被授权人员访问。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中间是“数据看板”模块，它是企业的“仪表盘”。它能够实时汇总并展示关键业务指标，并且支持个性化定制，让管理者能够直观地掌握业务健康度，辅助做出更科学的决策。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最后是右侧的“任务流程引擎”，它是提效的关键。通过实现业务流程的自动化流转，它能减少大量重复、机械的人工操作，并且支持灵活的配置，能很好地适应业务变化，实现降本增效的目标。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在需求分析阶段，我们将用户需求映射到具体的技术实现上。例如，用户认证我们采用JWT和Spring Security；数据可视化使用ECharts；实时通信则通过WebSocket实现。这张表格清晰地展示了我们的技术选型思路。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为了有效管理开发进度，我们使用了优先级排序方法。将功能分为P0到P3四个等级。P0是必须完成的核心功能，而P3则是远期规划。这种方式帮助我们聚焦于最重要的任务，确保项目按时交付。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接下来是系统设计部分。我们采用了经典的四层架构设计模式，将系统拆分为表现层、业务逻辑层、数据访问层和基础设施层。这种设计最大的优势在于实现了关注点的彻底分离，每一层各司其职。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表现层：直接面向用户，负责交互体验。我们选用了主流的Vue或React框架。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业务逻辑层：这是系统的大脑，负责处理所有的业务规则和流程，保障业务逻辑的一致性和稳定性。我们采用了Spring全家桶进行开发。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数据访问层：负责与底层数据库打交道，封装了数据持久化的细节。支持MyBatis和JPA两种主流方式。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基础设施层：作为坚实的底座，提供了日志、安全、配置等通用的技术能力，支撑上层业务。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通过这种清晰的分层，系统的可维护性、扩展性以及团队的并行开发效率都得到了极大的保障。右侧的架构图直观展示了这几个层次的结构关系。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在架构之下，我们将系统划分为四大核心模块：用户中心、内容管理、报表分析和系统管理。每个模块都有明确的职责，通过高内聚、低耦合的设计，使得各个模块可以独立开发和演进。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为了更直观地展示设计，我们使用了UML图。左侧是部署图，它描述了系统如何部署在服务器上。右侧是组件图，展示了各个功能模块之间的交互关系。这些图帮助我们团队成员更好地理解系统架构。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我们还绘制了类图和时序图。类图定义了系统中的核心数据结构和它们之间的关系，为数据库表结构设计提供了蓝图。时序图则展示了一个具体业务流程，比如用户下单时，各个对象是如何协作完成任务的，这对于理解系统动态行为至关重要，也方便开发人员进行逻辑编码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现在进入技术方案部分。我们选择了前后端分离加微服务的架构风格，旨在平衡开发效率与系统的可扩展性。前端采用了Vue.js 3和Vite的组合，以获得极佳的性能和流畅的开发体验；后端基于成熟的Spring Boot和Spring Cloud Alibaba生态，快速构建稳定的微服务体系。数据层选用了广泛使用的MySQL 8.0，并引入Redis作为缓存层，显著提升了系统的响应速度。最后，整个项目的工具链采用了Git、Docker、Kubernetes和Jenkins，打通了从开发到部署的全流程，确保了项目在开发和运维层面的现代化与高效性。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这一页集中展示了我们项目所使用的主要技术栈。从前端的Vue和React，到后端的Spring Boot，再到数据库、容器化和CI/CD工具，这些技术共同构成了我们项目的技术基石。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在前端，我们选用了 Vue.js 和 React 两大主流框架，根据不同的业务场景和团队技术背景灵活运用，确保了用户界面的高性能和极佳的交互体验。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后端核心基于 Spring Boot 框架，它的“约定大于配置”特性极大地简化了开发流程，让我们能够专注于业务逻辑的实现。同时，结合高性能的 MySQL 数据库和 Redis 内存数据库，保证了数据的持久化存储与高速缓存。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在基础设施方面，我们采用了 Docker 和 Kubernetes 进行容器化和编排，实现了系统的弹性伸缩和高可用性。同时，利用 Git 和 Jenkins 搭建了完整的 CI/CD 流水线，实现了从代码提交到自动构建、部署的自动化流程，显著提升了团队的研发效率。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这套技术栈经过了行业的广泛验证，兼顾了技术成熟度与先进性，能够有力支撑业务的稳定运行和未来的快速扩展。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数据库设计是系统的核心基石。我们首先通过E-R图定义了各个实体及其关系，例如用户、订单、商品等核心模块，确保业务逻辑在数据层面有清晰的映射。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此，我们设计了严谨的数据表结构。如右侧所示，以用户表（users）和订单表（orders）为例，通过定义主键（PK）和外键（FK），不仅保证了数据的唯一性，还建立了稳定的数据关联，确保系统运行过程中数据的一致性和完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中，我们遇到了分布式环境下的并发问题，并设计了基于Redis的分布式锁来解决。这里展示了我们的设计思想和伪代码。通过利用Redis的原子操作和Lua脚本，我们确保了锁的安全性和高效性，时间和空间复杂度均为O(1)，保证了系统在高并发场景下的性能和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项目管理方面，我们制定了详细的12周计划，并使用甘特图进行跟踪。从需求分析到最终演示，每个阶段都有明确的时间节点和任务目标，这张甘特图清晰地展示了我们的项目进度安排。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在协作方面，我们严格遵循Git Flow分支策略，保证了代码的质量和稳定性。通过Git统计，我们可以清晰地看到团队成员的贡献分布，这有助于我们评估工作量和进行绩效分析。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接下来是激动人心的系统演示环节。我们将按照预定流程，演示用户登录、数据看板、数据增删改查以及权限控制等核心功能。这里展示了部分关键界面的截图，大家可以看到我们系统的实际效果。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全是系统设计中不可忽视的一环。我们从密码存储、API认证、常见Web攻击防护等多个方面进行了设计。例如，我们使用BCrypt加密密码，用JWT进行身份认证，并采取了措施防止SQL注入和XSS攻击，确保系统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项目进行总结。我们成功完成了预定目标，搭建了可靠的技术架构，并提升了团队能力。当然，过程中也遇到了挑战，比如分布式事务和需求变更管理。展望未来，我们计划在功能、性能和智能化方面做进一步的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我的报告到此结束，感谢大家的聆听。现在是问答环节，欢迎大家提问。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6.xml"/><Relationship Id="rId10" Type="http://schemas.openxmlformats.org/officeDocument/2006/relationships/image" Target="../media/image5.sv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5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svg"/><Relationship Id="rId8" Type="http://schemas.openxmlformats.org/officeDocument/2006/relationships/image" Target="../media/image40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5.svg"/><Relationship Id="rId10" Type="http://schemas.openxmlformats.org/officeDocument/2006/relationships/image" Target="../media/image54.pn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svg"/><Relationship Id="rId8" Type="http://schemas.openxmlformats.org/officeDocument/2006/relationships/image" Target="../media/image46.png"/><Relationship Id="rId7" Type="http://schemas.openxmlformats.org/officeDocument/2006/relationships/image" Target="../media/image61.jpeg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jpeg"/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2.svg"/><Relationship Id="rId12" Type="http://schemas.openxmlformats.org/officeDocument/2006/relationships/image" Target="../media/image64.png"/><Relationship Id="rId11" Type="http://schemas.openxmlformats.org/officeDocument/2006/relationships/image" Target="../media/image63.svg"/><Relationship Id="rId10" Type="http://schemas.openxmlformats.org/officeDocument/2006/relationships/image" Target="../media/image62.png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5.jpe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svg"/><Relationship Id="rId8" Type="http://schemas.openxmlformats.org/officeDocument/2006/relationships/image" Target="../media/image71.png"/><Relationship Id="rId7" Type="http://schemas.openxmlformats.org/officeDocument/2006/relationships/image" Target="../media/image14.svg"/><Relationship Id="rId6" Type="http://schemas.openxmlformats.org/officeDocument/2006/relationships/image" Target="../media/image70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74.svg"/><Relationship Id="rId10" Type="http://schemas.openxmlformats.org/officeDocument/2006/relationships/image" Target="../media/image73.pn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5.jpeg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9.jpe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jpeg"/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8.jpeg"/><Relationship Id="rId7" Type="http://schemas.openxmlformats.org/officeDocument/2006/relationships/image" Target="../media/image87.svg"/><Relationship Id="rId6" Type="http://schemas.openxmlformats.org/officeDocument/2006/relationships/image" Target="../media/image86.png"/><Relationship Id="rId5" Type="http://schemas.openxmlformats.org/officeDocument/2006/relationships/image" Target="../media/image85.svg"/><Relationship Id="rId4" Type="http://schemas.openxmlformats.org/officeDocument/2006/relationships/image" Target="../media/image84.png"/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4.svg"/><Relationship Id="rId6" Type="http://schemas.openxmlformats.org/officeDocument/2006/relationships/image" Target="../media/image93.png"/><Relationship Id="rId5" Type="http://schemas.openxmlformats.org/officeDocument/2006/relationships/image" Target="../media/image92.svg"/><Relationship Id="rId4" Type="http://schemas.openxmlformats.org/officeDocument/2006/relationships/image" Target="../media/image91.png"/><Relationship Id="rId3" Type="http://schemas.openxmlformats.org/officeDocument/2006/relationships/image" Target="../media/image90.svg"/><Relationship Id="rId2" Type="http://schemas.openxmlformats.org/officeDocument/2006/relationships/image" Target="../media/image89.png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课程报告 · COURSE REPORT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4699000"/>
            <a:ext cx="3175000" cy="1524000"/>
          </a:xfrm>
          <a:prstGeom prst="roundRect">
            <a:avLst>
              <a:gd name="adj" fmla="val 10000"/>
            </a:avLst>
          </a:prstGeom>
          <a:solidFill>
            <a:srgbClr val="141E2D">
              <a:alpha val="8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" y="4978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651000" y="4953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TEAM NAME / 团队名称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ZeroDay</a:t>
            </a:r>
            <a:endParaRPr 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508500" y="4699000"/>
            <a:ext cx="3175000" cy="1524000"/>
          </a:xfrm>
          <a:prstGeom prst="roundRect">
            <a:avLst>
              <a:gd name="adj" fmla="val 10000"/>
            </a:avLst>
          </a:prstGeom>
          <a:solidFill>
            <a:srgbClr val="141E2D">
              <a:alpha val="8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1700" y="4978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5143500" y="4953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MEMBERS / 小组成员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林立</a:t>
            </a:r>
            <a:r>
              <a:rPr lang="en-US" altLang="zh-CN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张雯雯</a:t>
            </a:r>
            <a:r>
              <a:rPr lang="en-US" altLang="zh-CN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杨雯惠</a:t>
            </a:r>
            <a:endParaRPr lang="zh-CN" alt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01000" y="4699000"/>
            <a:ext cx="3175000" cy="1524000"/>
          </a:xfrm>
          <a:prstGeom prst="roundRect">
            <a:avLst>
              <a:gd name="adj" fmla="val 10000"/>
            </a:avLst>
          </a:prstGeom>
          <a:solidFill>
            <a:srgbClr val="141E2D">
              <a:alpha val="8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4200" y="4978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636000" y="4953000"/>
            <a:ext cx="228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DATE / 报告日期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</a:t>
            </a:r>
            <a:endParaRPr 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879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32000" y="1841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项目概述与背景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 | 核心功能概览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276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3238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需求分析与规划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核心需求映射 | 功能优先级与Backlog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673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4635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分层架构设计 | 核心模块划分 | 关键UML模型展示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46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689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32000" y="5651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技术栈选型与理由 | 数据库设计 | 核心算法设计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879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493000" y="1841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项目管理与协作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项目进度与甘特图 | Git协作与代码管理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3048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3276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93000" y="3238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系统演示与效果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核心功能演示流程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4445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4673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93000" y="4635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安全设计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核心安全措施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546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5689600"/>
            <a:ext cx="762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493000" y="5651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项目成果总结与反思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项目概述与背景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854200"/>
            <a:ext cx="50800" cy="304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034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699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随着数字化转型的深入，企业内部流程管理效率低下、信息孤岛严重、用户体验不佳等问题日益凸显。当前市场上的解决方案存在功能单一、定制化成本高、扩展性差等问题，无法满足中小企业的精细化需求。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因此，我们旨在设计并实现一个</a:t>
            </a:r>
            <a:r>
              <a:rPr lang="en-US" sz="14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轻量级、高可定制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的系统，以解决上述痛点，赋能企业实现低成本、高效率的数字化升级。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854200"/>
            <a:ext cx="50800" cy="304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8034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项目核心目标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2921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28194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功能目标 · 一体化综合平台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整合数据管理、流程自动化与高效用户协作功能，打破企业内部信息壁垒。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38735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200" y="4127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366000" y="40259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技术目标 · 稳健与灵活并重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采用前后端分离架构，保障系统具备高可用性、易扩展性及金融级数据安全能力。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5080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0200" y="5334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66000" y="52324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业务目标 · 降本增效成果显著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预计帮助用户提升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30%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工作效率，同时降低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20%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综合运营成本。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项目概述与背景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000" y="22860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302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功能模块一：用户管理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191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提供用户注册、登录、权限分配与全生命周期管理功能，构建稳固的系统基础。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支持灵活的多角色权限控制，严格划分数据访问范围，全方位保障企业数据安全。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2286000"/>
            <a:ext cx="762000" cy="762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3302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功能模块二：数据看板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4191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实时聚合并展示企业核心业务数据指标，让经营状况一目了然。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支持自定义报表和多样化图表展示，提供深度的可视化数据分析能力，辅助科学决策。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22860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82000" y="3302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功能模块三：任务流程引擎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4191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实现端到端的业务流程自动化流转，大幅减少人工干预，提升运营效率。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支持灵活的流程节点自定义配置，可快速适应不同业务场景与变更需求。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需求分析与规划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核心需求映射：从业务场景到技术选型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800" y="2476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用户认证与授权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06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JWT + Spring Security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5080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确保API访问的安全性，实现细粒度的角色与权限控制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84500" y="2159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0300" y="2476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1115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数据可视化展示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11500" y="406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ECharts / D3.js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111500" y="5080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提供丰富的图表类型，完美支持多端响应式布局展示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2159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92800" y="2476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334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实时数据同步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34000" y="406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WebSocket / SSE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334000" y="5080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建立长连接，实现客户端与服务器间毫秒级的实时通信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29500" y="2159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15300" y="24765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5565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文件上传与存储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556500" y="406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MinIO / AWS S3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556500" y="5080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构建高可用、可弹性扩展的对象存储服务，保障数据持久化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652000" y="2159000"/>
            <a:ext cx="2032000" cy="4064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37800" y="24765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779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复杂业务逻辑处理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779000" y="4064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分布式任务调度 (XXL-Job)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779000" y="50800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高效拆解与管理耗时较长的异步任务，提升系统整体吞吐量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需求分析与规划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功能优先级与 Backlog 梳理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2159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133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0828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 (Must Have) · 核心功能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" y="2667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ID: 1 - 用户注册与登录：系统基础入口，确保用户身份认证。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ID: 2 - 核心数据展示：直观呈现关键业务指标，验证业务逻辑。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ID: 3 - 数据增删改查：支撑业务流转的基础CRUD操作。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76200" cy="215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133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20828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 (Should Have) · 重要功能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2667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ID: 4 - 用户权限管理：实现多角色精细化访问控制，保障数据安全。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ID: 5 - 数据导入导出：支持Excel格式，便于系统数据迁移与定期备份。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546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4958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P2 (Could Have) · 次要功能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79500" y="508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ID: 7 - 个性化设置：支持主题切换、列表展示偏好，提升操作体验。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ID: 8 - 操作日志记录：完整记录关键操作轨迹，便于问题排查与追溯。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23000" y="431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4318000"/>
            <a:ext cx="76200" cy="2159000"/>
          </a:xfrm>
          <a:prstGeom prst="roundRect">
            <a:avLst>
              <a:gd name="adj" fmla="val 0"/>
            </a:avLst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546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44958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 (Won't Have) · 远期规划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40500" y="508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ID: 9 - 第三方集成：与企业内部CRM/ERP系统打通，实现数据互联。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ID: 10 - 移动端App：开发适配iOS与Android的原生应用，拓展使用场景。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206500"/>
          </a:xfrm>
          <a:prstGeom prst="roundRect">
            <a:avLst>
              <a:gd name="adj" fmla="val 133333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表现层 (Presentation Layer)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负责用户界面展示和用户交互，将后端数据转换为可视化内容。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Vue.js / React (前端框架)，通过RESTful API 与后端进行数据通信。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76200" cy="1206500"/>
          </a:xfrm>
          <a:prstGeom prst="roundRect">
            <a:avLst>
              <a:gd name="adj" fmla="val 133333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048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业务逻辑层 (Business Logic Layer)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封装系统的核心业务规则、流程和校验逻辑，连接表现层与数据层。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(应用开发) / Spring Cloud (微服务治理)。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76200" cy="1206500"/>
          </a:xfrm>
          <a:prstGeom prst="roundRect">
            <a:avLst>
              <a:gd name="adj" fmla="val 133333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445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数据访问层 (Data Access Layer)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屏蔽底层数据库细节，负责数据的CRUD操作和持久化管理。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MyBatis (灵活SQL映射) / JPA (Hibernate) (对象关系映射)。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461000"/>
            <a:ext cx="76200" cy="1206500"/>
          </a:xfrm>
          <a:prstGeom prst="roundRect">
            <a:avLst>
              <a:gd name="adj" fmla="val 133333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588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基础设施层 (Infrastructure Layer)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为上层提供通用支撑服务，如配置管理、日志监控、安全认证等。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Starter, Apache Commons, Redis, Nginx。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rcRect l="11547" r="11547"/>
          <a:stretch>
            <a:fillRect/>
          </a:stretch>
        </p:blipFill>
        <p:spPr>
          <a:xfrm>
            <a:off x="6350000" y="2032000"/>
            <a:ext cx="5080000" cy="3937000"/>
          </a:xfrm>
          <a:prstGeom prst="roundRect">
            <a:avLst>
              <a:gd name="adj" fmla="val 387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350000" y="6096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系统分层架构示意图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核心模块划分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794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6035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用户中心模块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负责用户全生命周期管理，涵盖身份认证、权限授权体系以及用户个人信息与偏好的综合管理功能。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28600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794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26035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内容管理模块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聚焦核心业务资产，统一管理文章资讯、产品目录及交易订单等关键数据，确保业务流转顺畅高效。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50850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5016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032000" y="4826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报表分析模块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深度挖掘数据价值，通过多维度的统计、趋势分析与直观的可视化图表，为业务决策提供坚实的数据支撑。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50850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5016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493000" y="48260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系统管理模块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作为系统的基石，提供底层配置维护、全链路日志监控以及自动化任务调度，保障系统稳定可靠运行。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6421" b="6421"/>
          <a:stretch>
            <a:fillRect/>
          </a:stretch>
        </p:blipFill>
        <p:spPr>
          <a:xfrm>
            <a:off x="1016000" y="1905000"/>
            <a:ext cx="4699000" cy="2159000"/>
          </a:xfrm>
          <a:prstGeom prst="roundRect">
            <a:avLst>
              <a:gd name="adj" fmla="val 4705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31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 部署图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080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展示了系统在物理节点上的部署情况，清晰呈现 Web 服务器、应用服务器、数据库服务器等核心组件的物理分布与网络连接关系，是系统运维与基础设施规划的重要参考。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34824" b="34824"/>
          <a:stretch>
            <a:fillRect/>
          </a:stretch>
        </p:blipFill>
        <p:spPr>
          <a:xfrm>
            <a:off x="6477000" y="1905000"/>
            <a:ext cx="4699000" cy="2159000"/>
          </a:xfrm>
          <a:prstGeom prst="roundRect">
            <a:avLst>
              <a:gd name="adj" fmla="val 4705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77000" y="431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模块划分图 / 组件图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5080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以高内聚、低耦合的设计思想为指导，通过组件化的形式清晰展示了系统的核心功能模块、对外暴露的接口以及模块间的依赖关系，是开发人员理解系统结构的关键蓝图。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6133" b="16133"/>
          <a:stretch>
            <a:fillRect/>
          </a:stretch>
        </p:blipFill>
        <p:spPr>
          <a:xfrm>
            <a:off x="1016000" y="2032000"/>
            <a:ext cx="46990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核心类图 / 领域模型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953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展示了核心业务实体（如User, Order, Product）及其属性和相互关系，是数据库设计和业务逻辑实现的基础，确立了系统的数据骨架。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t="29120" b="29120"/>
          <a:stretch>
            <a:fillRect/>
          </a:stretch>
        </p:blipFill>
        <p:spPr>
          <a:xfrm>
            <a:off x="6477000" y="2032000"/>
            <a:ext cx="46990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4770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关键时序图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4953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以“用户下单”场景为例，清晰展示了不同系统对象之间的交互顺序和消息传递过程，直观揭示了核心用例背后的系统动态行为逻辑。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技术方案与实现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技术栈选型与理由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2667000"/>
            <a:ext cx="965200" cy="635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556000"/>
            <a:ext cx="177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架构风格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前后端分离 +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微服务架构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5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提升开发效率和用户体验，提高系统灵活性和可维护性。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111500" y="2286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111500" y="2286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2667000"/>
            <a:ext cx="965200" cy="635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238500" y="3556000"/>
            <a:ext cx="177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前端技术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Vue.js 3 + Vite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5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性能优异，热更新快，开发体验好，能快速响应市场需求。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461000" y="2286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461000" y="2286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4400" y="2667000"/>
            <a:ext cx="9652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88000" y="3556000"/>
            <a:ext cx="177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后端技术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3 +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Cloud Alibaba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5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简化开发流程，提供成熟的微服务治理方案，保障系统高可用。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810500" y="2286000"/>
            <a:ext cx="2032000" cy="3937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810500" y="2286000"/>
            <a:ext cx="203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3900" y="2667000"/>
            <a:ext cx="965200" cy="635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937500" y="3556000"/>
            <a:ext cx="177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8.0 + Redis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5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关系型数据库保障数据一致性，内存数据库显著提升系统读取性能。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906000" y="2286000"/>
            <a:ext cx="1524000" cy="3937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906000" y="2286000"/>
            <a:ext cx="1524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36200" y="2667000"/>
            <a:ext cx="863600" cy="635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969500" y="3556000"/>
            <a:ext cx="1397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工具链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Git, Maven,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Docker, K8s,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Jenkins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5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构建现代化的开发、CI/CD自动化部署和高效运维工具链。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技术方案与实现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6562" r="26562"/>
          <a:stretch>
            <a:fillRect/>
          </a:stretch>
        </p:blipFill>
        <p:spPr>
          <a:xfrm>
            <a:off x="952500" y="1841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032000" y="1778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Vue.js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渐进式前端框架，构建交互丰富的用户界面，兼具灵活性与高性能。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45000" y="1524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23829" r="23829"/>
          <a:stretch>
            <a:fillRect/>
          </a:stretch>
        </p:blipFill>
        <p:spPr>
          <a:xfrm>
            <a:off x="4635500" y="1841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5715000" y="1778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React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用于构建用户界面的 JavaScript 库，专注于组件化开发与高效渲染。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28000" y="1524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18500" y="1841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9398000" y="1778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约定大于配置的后端开发框架，简化了企业级应用的构建和部署过程。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 l="94" r="94"/>
          <a:stretch>
            <a:fillRect/>
          </a:stretch>
        </p:blipFill>
        <p:spPr>
          <a:xfrm>
            <a:off x="952500" y="3746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2032000" y="3683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全球流行的开源关系型数据库，以高性能、高可靠性和易用性著称。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445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635500" y="3746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5715000" y="3683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Redis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高性能的内存数据存储系统，支持多种数据结构，用于缓存和消息队列。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128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l="7218" r="7218"/>
          <a:stretch>
            <a:fillRect/>
          </a:stretch>
        </p:blipFill>
        <p:spPr>
          <a:xfrm>
            <a:off x="8318500" y="3746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9398000" y="36830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领先的容器化平台，实现应用快速打包、交付和跨环境的一致性运行。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397500"/>
            <a:ext cx="762000" cy="762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2032000" y="52705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Kubernetes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自动化的开源容器编排系统，用于大规模集群的容器部署、扩展和管理。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445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35500" y="5397500"/>
            <a:ext cx="762000" cy="762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715000" y="52705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分布式版本控制系统，高效记录代码变更，支持团队并行协作开发。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128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18500" y="5397500"/>
            <a:ext cx="762000" cy="762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398000" y="5270500"/>
            <a:ext cx="184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Jenkins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自动化服务器，用于持续集成和持续交付（CI/CD），提升开发效率。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技术方案与实现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7567" b="17567"/>
          <a:stretch>
            <a:fillRect/>
          </a:stretch>
        </p:blipFill>
        <p:spPr>
          <a:xfrm>
            <a:off x="1016000" y="1778000"/>
            <a:ext cx="4699000" cy="2286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425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E-R 图实体关系定义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基于业务需求，设计了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用户、角色、权限、订单、商品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等核心实体。通过外键严格定义了实体间的关联关系，如用户与角色多对多，订单与商品多对多（中间表关联），以确保数据的逻辑完整性与业务的正确流转。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核心数据表结构 (Schema)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477000" y="2540000"/>
          <a:ext cx="4699000" cy="2857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016000"/>
                <a:gridCol w="889000"/>
                <a:gridCol w="508000"/>
                <a:gridCol w="508000"/>
                <a:gridCol w="762000"/>
              </a:tblGrid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表名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D3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字段名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D3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D3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D3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D3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备注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D3EE">
                        <a:alpha val="100000"/>
                      </a:srgbClr>
                    </a:solidFill>
                  </a:tcPr>
                </a:tc>
              </a:tr>
              <a:tr h="571500">
                <a:tc rowSpan="2"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users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BIGINT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CA3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用户ID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571500">
                <a:tc v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username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VARCHAR(50)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CA3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CA3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登录名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1500">
                <a:tc rowSpan="2"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orders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BIGINT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CA3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订单ID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571500">
                <a:tc vMerge="1"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user_id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BIGINT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CA3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0B98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关联用户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技术方案与实现：分布式锁核心算法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159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设计思想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Redis 的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SETNX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命令的原子性来实现分布式锁，避免多进程竞争导致的状态不一致。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尝试设置一个带有过期时间的键值对，防止服务宕机导致死锁。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释放锁：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 Lua 脚本，确保“校验+删除”的原子性，防止误删其他线程持有的锁。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15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32400" y="2159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核心伪代码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921000"/>
            <a:ext cx="2794000" cy="2794000"/>
          </a:xfrm>
          <a:prstGeom prst="roundRect">
            <a:avLst>
              <a:gd name="adj" fmla="val 3636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826000" y="3111500"/>
            <a:ext cx="2540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# 加锁：NX 互斥，PX 自动过期</a:t>
            </a:r>
            <a:br>
              <a:rPr lang="en-US" sz="11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100" b="0" i="0" u="none" strike="noStrike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def acquire(lockKey, reqId, ttl):</a:t>
            </a:r>
            <a:br>
              <a:rPr lang="en-US" sz="11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1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return redis.set(lockKey, reqId, "NX", "PX", ttl)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1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# 解锁：Lua脚本保证原子性</a:t>
            </a:r>
            <a:br>
              <a:rPr lang="en-US" sz="11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100" b="0" i="0" u="none" strike="noStrike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def release(lockKey, reqId):</a:t>
            </a:r>
            <a:br>
              <a:rPr lang="en-US" sz="11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1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script = "if redis.call('get',KEYS[1])==ARGV[1] then return redis.call('del',KEYS[1]) else return 0 end"</a:t>
            </a:r>
            <a:br>
              <a:rPr lang="en-US" sz="11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1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return redis.eval(script, 1, lockKey, reqId)</a:t>
            </a:r>
            <a:endParaRPr lang="en-US" sz="11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15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915400" y="2159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复杂度分析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048000"/>
            <a:ext cx="2794000" cy="1206500"/>
          </a:xfrm>
          <a:prstGeom prst="roundRect">
            <a:avLst>
              <a:gd name="adj" fmla="val 8421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72500" y="3365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271000" y="32385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 (Time)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O(1)</a:t>
            </a:r>
            <a:r>
              <a:rPr lang="en-US" sz="13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(常数级)</a:t>
            </a:r>
            <a:endParaRPr lang="en-US" sz="1300" b="0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382000" y="4508500"/>
            <a:ext cx="2794000" cy="1206500"/>
          </a:xfrm>
          <a:prstGeom prst="roundRect">
            <a:avLst>
              <a:gd name="adj" fmla="val 8421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72500" y="4826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271000" y="46990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空间复杂度 (Space)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O(1)</a:t>
            </a:r>
            <a:r>
              <a:rPr lang="en-US" sz="13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(高效存储)</a:t>
            </a:r>
            <a:endParaRPr lang="en-US" sz="1300" b="0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项目管理与协作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项目进度与甘特图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项目整体周期规划为</a:t>
            </a: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12周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，将工作拆解为四个核心阶段有序推进，确保按期交付。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2413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492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 (1-3周)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完成详细的需求调研分析，并输出最终的技术架构与产品原型设计方案。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29000" y="3302000"/>
            <a:ext cx="2413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29000" y="330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83000" y="3492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 (4-8周)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开展核心功能模块开发，进行系统内部联调，确保各功能逻辑顺畅、数据互通。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016500"/>
            <a:ext cx="2413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50165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2070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第三阶段 (9-11周)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进行全面的系统测试与性能优化，并完成用户手册及技术文档的编写工作。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29000" y="5016500"/>
            <a:ext cx="2413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429000" y="50165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683000" y="52070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第四阶段 (第12周)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组织项目最终验收会议，进行系统功能演示，完成项目交付与相关资产移交。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rcRect l="18066" r="18066"/>
          <a:stretch>
            <a:fillRect/>
          </a:stretch>
        </p:blipFill>
        <p:spPr>
          <a:xfrm>
            <a:off x="6223000" y="2286000"/>
            <a:ext cx="5207000" cy="3810000"/>
          </a:xfrm>
          <a:prstGeom prst="roundRect">
            <a:avLst>
              <a:gd name="adj" fmla="val 4000"/>
            </a:avLst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项目管理与协作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558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05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Git协作与分支策略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27465" b="27465"/>
          <a:stretch>
            <a:fillRect/>
          </a:stretch>
        </p:blipFill>
        <p:spPr>
          <a:xfrm>
            <a:off x="1066800" y="2667000"/>
            <a:ext cx="45974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066800" y="4953000"/>
            <a:ext cx="4597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我们严格遵循经典的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 Flow 分支策略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，清晰划分了 main、develop、feature、release 和 hotfix 分支，在保证开发效率的同时，最大程度规避了代码冲突，确保了版本发布的稳定性与代码管理的规范性。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19558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9050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团队贡献分布统计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 l="15893" r="15893"/>
          <a:stretch>
            <a:fillRect/>
          </a:stretch>
        </p:blipFill>
        <p:spPr>
          <a:xfrm>
            <a:off x="6527800" y="2667000"/>
            <a:ext cx="4597400" cy="2032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527800" y="4953000"/>
            <a:ext cx="4597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Git 的代码提交记录分析，实现了透明化的贡献评估：后端核心模块由成员A主导，贡献代码量约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40%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；前端交互开发由成员B负责，贡献约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35%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；成员C则专注于文档维护与全流程质量保障，各司其职，高效协同。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系统演示与效果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▍关键界面展示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8679" b="18679"/>
          <a:stretch>
            <a:fillRect/>
          </a:stretch>
        </p:blipFill>
        <p:spPr>
          <a:xfrm>
            <a:off x="762000" y="2413000"/>
            <a:ext cx="2667000" cy="3556000"/>
          </a:xfrm>
          <a:prstGeom prst="roundRect">
            <a:avLst>
              <a:gd name="adj" fmla="val 5714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8200" b="18200"/>
          <a:stretch>
            <a:fillRect/>
          </a:stretch>
        </p:blipFill>
        <p:spPr>
          <a:xfrm>
            <a:off x="3683000" y="2413000"/>
            <a:ext cx="2667000" cy="3556000"/>
          </a:xfrm>
          <a:prstGeom prst="roundRect">
            <a:avLst>
              <a:gd name="adj" fmla="val 5714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6731000" y="1651000"/>
            <a:ext cx="4699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985000" y="1905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核心功能演示流程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985000" y="2667000"/>
            <a:ext cx="4191000" cy="685800"/>
          </a:xfrm>
          <a:prstGeom prst="roundRect">
            <a:avLst>
              <a:gd name="adj" fmla="val 11111"/>
            </a:avLst>
          </a:prstGeom>
          <a:solidFill>
            <a:srgbClr val="F0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985000" y="2667000"/>
            <a:ext cx="50800" cy="685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162800" y="27305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用户登录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演示用户输入账号密码，成功通过验证并进入系统首页。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85000" y="3505200"/>
            <a:ext cx="4191000" cy="685800"/>
          </a:xfrm>
          <a:prstGeom prst="roundRect">
            <a:avLst>
              <a:gd name="adj" fmla="val 11111"/>
            </a:avLst>
          </a:prstGeom>
          <a:solidFill>
            <a:srgbClr val="F0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985000" y="3505200"/>
            <a:ext cx="50800" cy="685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62800" y="35687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数据看板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展示首页动态数据图表，实时呈现关键业务指标与趋势。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85000" y="4343400"/>
            <a:ext cx="4191000" cy="685800"/>
          </a:xfrm>
          <a:prstGeom prst="roundRect">
            <a:avLst>
              <a:gd name="adj" fmla="val 11111"/>
            </a:avLst>
          </a:prstGeom>
          <a:solidFill>
            <a:srgbClr val="F0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985000" y="4343400"/>
            <a:ext cx="50800" cy="685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162800" y="44069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新增数据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演示创建新业务数据的全流程，体验表单设计与快速提交。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5181600"/>
            <a:ext cx="2032000" cy="1066800"/>
          </a:xfrm>
          <a:prstGeom prst="roundRect">
            <a:avLst>
              <a:gd name="adj" fmla="val 7142"/>
            </a:avLst>
          </a:prstGeom>
          <a:solidFill>
            <a:srgbClr val="F0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985000" y="5181600"/>
            <a:ext cx="50800" cy="1066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162800" y="52705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数据查询与筛选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根据多种条件组合，快速精准检索所需信息。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144000" y="5181600"/>
            <a:ext cx="2032000" cy="1066800"/>
          </a:xfrm>
          <a:prstGeom prst="roundRect">
            <a:avLst>
              <a:gd name="adj" fmla="val 7142"/>
            </a:avLst>
          </a:prstGeom>
          <a:solidFill>
            <a:srgbClr val="F0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144000" y="5181600"/>
            <a:ext cx="50800" cy="1066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321800" y="52705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权限控制演示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多角色登录，直观展示不同岗位的操作权限差异。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安全设计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9050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密码存储安全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BCrypt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自适应哈希算法对用户密码进行加密存储，确保密码数据在数据库层面即使泄露也无法被轻易还原，保障用户核心隐私安全。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68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66000" y="19050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身份认证与权限控制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无状态身份认证：所有服务端接口强制校验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JWT 令牌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，确保调用方身份合法。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权限精细化管理：基于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RBAC 模型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，实现不同角色对不同接口与业务功能的细粒度访问控制。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4445000"/>
            <a:ext cx="3683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 Web 攻击防护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SQL注入：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使用参数化查询与ORM框架，从根源杜绝SQL拼接风险。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XSS跨站脚本：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对所有用户输入做严格的内容过滤与转义，防止恶意脚本注入。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CSRF跨站伪造：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关键操作接口集成CSRF Token校验，确保请求来源真实有效。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l="30516" r="30516"/>
          <a:stretch>
            <a:fillRect/>
          </a:stretch>
        </p:blipFill>
        <p:spPr>
          <a:xfrm>
            <a:off x="6477000" y="4470400"/>
            <a:ext cx="1143000" cy="1651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747000" y="4445000"/>
            <a:ext cx="342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其他安全加固措施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敏感数据脱敏：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对手机号、身份证、银行卡等敏感信息在展示层进行自动脱敏，减少信息暴露面。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接口限流：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实施多维度API访问频率限制，有效防御恶意高频请求与DDoS攻击。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032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项目成果总结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成功完成了系统的核心功能开发，达成了预期的业务指标与目标。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搭建了一套基于微服务架构的高可用、易扩展的技术底座。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统一并建立了团队的标准开发流程与代码编写规范。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团队成员在技术实践、项目管理与跨部门协作能力上均有显著提升。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32400" y="2032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挑战与反思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794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技术挑战：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实现跨服务分布式事务时遇到一致性难题，最终引入 Seata 分布式事务框架解决了数据一致性问题。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管理挑战：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项目中期出现需求变更频繁的情况，导致部分模块需返工开发。未来需在需求评审阶段增加沟通频次，明确变更影响与流程。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915400" y="2032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未来工作展望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794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功能扩展：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启动移动端 App 开发项目，覆盖更多用户使用场景，提升用户体验。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性能优化：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引入搜索引擎技术，解决海量数据下的查询响应速度慢的问题。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🧠 智能化升级：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探索引入机器学习算法，为用户实现个性化推荐功能，挖掘数据价值。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461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欢迎大家提问 · 共同探讨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0,&quot;left&quot;:80,&quot;top&quot;:370,&quot;width&quot;:525}"/>
</p:tagLst>
</file>

<file path=ppt/tags/tag2.xml><?xml version="1.0" encoding="utf-8"?>
<p:tagLst xmlns:p="http://schemas.openxmlformats.org/presentationml/2006/main">
  <p:tag name="KSO_WM_DIAGRAM_VIRTUALLY_FRAME" val="{&quot;height&quot;:120,&quot;left&quot;:80,&quot;top&quot;:370,&quot;width&quot;:525}"/>
</p:tagLst>
</file>

<file path=ppt/tags/tag3.xml><?xml version="1.0" encoding="utf-8"?>
<p:tagLst xmlns:p="http://schemas.openxmlformats.org/presentationml/2006/main">
  <p:tag name="KSO_WM_DIAGRAM_VIRTUALLY_FRAME" val="{&quot;height&quot;:120,&quot;left&quot;:80,&quot;top&quot;:370,&quot;width&quot;:525}"/>
</p:tagLst>
</file>

<file path=ppt/tags/tag4.xml><?xml version="1.0" encoding="utf-8"?>
<p:tagLst xmlns:p="http://schemas.openxmlformats.org/presentationml/2006/main">
  <p:tag name="KSO_WM_DIAGRAM_VIRTUALLY_FRAME" val="{&quot;height&quot;:120,&quot;left&quot;:80,&quot;top&quot;:370,&quot;width&quot;:525}"/>
</p:tagLst>
</file>

<file path=ppt/tags/tag5.xml><?xml version="1.0" encoding="utf-8"?>
<p:tagLst xmlns:p="http://schemas.openxmlformats.org/presentationml/2006/main">
  <p:tag name="KSO_WM_DIAGRAM_VIRTUALLY_FRAME" val="{&quot;height&quot;:120,&quot;left&quot;:80,&quot;top&quot;:370,&quot;width&quot;:525}"/>
</p:tagLst>
</file>

<file path=ppt/tags/tag6.xml><?xml version="1.0" encoding="utf-8"?>
<p:tagLst xmlns:p="http://schemas.openxmlformats.org/presentationml/2006/main">
  <p:tag name="KSO_WM_DIAGRAM_VIRTUALLY_FRAME" val="{&quot;height&quot;:120,&quot;left&quot;:80,&quot;top&quot;:370,&quot;width&quot;:52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5396</Words>
  <Application>WPS 演示</Application>
  <PresentationFormat/>
  <Paragraphs>433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Roboto Mono</vt:lpstr>
      <vt:lpstr>Segoe Print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摆鱼</cp:lastModifiedBy>
  <cp:revision>1</cp:revision>
  <dcterms:created xsi:type="dcterms:W3CDTF">2026-05-04T09:54:54Z</dcterms:created>
  <dcterms:modified xsi:type="dcterms:W3CDTF">2026-05-04T09:54:54Z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D1B7341B25F94B52A22D178EF1BF8594_13</vt:lpwstr>
  </property>
  <property fmtid="{D5CDD505-2E9C-101B-9397-08002B2CF9AE}" pid="3" name="KSOProductBuildVer">
    <vt:lpwstr>2052-12.1.0.25865</vt:lpwstr>
  </property>
</Properties>
</file>